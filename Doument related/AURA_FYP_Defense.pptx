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A.U.R.A. — Air-gapped Unified Responsive Agent.</a:t>
            </a:r>
          </a:p>
          <a:p>
            <a:r>
              <a:rPr sz="1100">
                <a:latin typeface="Inter"/>
              </a:rPr>
              <a:t>We built a locally-running multi-agent system that turns natural-language</a:t>
            </a:r>
          </a:p>
          <a:p>
            <a:r>
              <a:rPr sz="1100">
                <a:latin typeface="Inter"/>
              </a:rPr>
              <a:t>commands into controlled computer and OS automation, while keeping data,</a:t>
            </a:r>
          </a:p>
          <a:p>
            <a:r>
              <a:rPr sz="1100">
                <a:latin typeface="Inter"/>
              </a:rPr>
              <a:t>reasoning, and execution on the local machine.</a:t>
            </a:r>
          </a:p>
          <a:p/>
          <a:p>
            <a:r>
              <a:rPr sz="1100">
                <a:latin typeface="Inter"/>
              </a:rPr>
              <a:t>Why the panel should care: most assistants rely on cloud APIs, cannot</a:t>
            </a:r>
          </a:p>
          <a:p>
            <a:r>
              <a:rPr sz="1100">
                <a:latin typeface="Inter"/>
              </a:rPr>
              <a:t>reliably perform multi-step desktop tasks, and expose broad OS permissions</a:t>
            </a:r>
          </a:p>
          <a:p>
            <a:r>
              <a:rPr sz="1100">
                <a:latin typeface="Inter"/>
              </a:rPr>
              <a:t>without a meaningful approval gate. A.U.R.A. asks whether an AI agent can</a:t>
            </a:r>
          </a:p>
          <a:p>
            <a:r>
              <a:rPr sz="1100">
                <a:latin typeface="Inter"/>
              </a:rPr>
              <a:t>earn its place on a researcher's machine — and be useful, local, secure,</a:t>
            </a:r>
          </a:p>
          <a:p>
            <a:r>
              <a:rPr sz="1100">
                <a:latin typeface="Inter"/>
              </a:rPr>
              <a:t>and approvable.</a:t>
            </a:r>
          </a:p>
          <a:p/>
          <a:p>
            <a:r>
              <a:rPr sz="1100">
                <a:latin typeface="Inter"/>
              </a:rPr>
              <a:t>I will walk you through the problem, the design, the architecture, the</a:t>
            </a:r>
          </a:p>
          <a:p>
            <a:r>
              <a:rPr sz="1100">
                <a:latin typeface="Inter"/>
              </a:rPr>
              <a:t>security model, and the contribution of this project.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The brief deliberately spreads across four domains. On the slide:</a:t>
            </a:r>
          </a:p>
          <a:p/>
          <a:p>
            <a:r>
              <a:rPr sz="1100">
                <a:latin typeface="Inter"/>
              </a:rPr>
              <a:t>- AI: local LLMs and multi-agent reasoning. The prover is on the device</a:t>
            </a:r>
          </a:p>
          <a:p>
            <a:r>
              <a:rPr sz="1100">
                <a:latin typeface="Inter"/>
              </a:rPr>
              <a:t>  itself (Raspberry Pi 4 with llama.cpp). No remote inference API is used.</a:t>
            </a:r>
          </a:p>
          <a:p/>
          <a:p>
            <a:r>
              <a:rPr sz="1100">
                <a:latin typeface="Inter"/>
              </a:rPr>
              <a:t>- Computer Automation: accessibility APIs to target UI elements directly,</a:t>
            </a:r>
          </a:p>
          <a:p>
            <a:r>
              <a:rPr sz="1100">
                <a:latin typeface="Inter"/>
              </a:rPr>
              <a:t>  with vision as a fallback. The system can execute multi-step workflows.</a:t>
            </a:r>
          </a:p>
          <a:p/>
          <a:p>
            <a:r>
              <a:rPr sz="1100">
                <a:latin typeface="Inter"/>
              </a:rPr>
              <a:t>- Cybersecurity: zero-trust handling of web content, sandboxed execution,</a:t>
            </a:r>
          </a:p>
          <a:p>
            <a:r>
              <a:rPr sz="1100">
                <a:latin typeface="Inter"/>
              </a:rPr>
              <a:t>  restricted per-task permissions, and a biometric human-in-the-loop gate.</a:t>
            </a:r>
          </a:p>
          <a:p/>
          <a:p>
            <a:r>
              <a:rPr sz="1100">
                <a:latin typeface="Inter"/>
              </a:rPr>
              <a:t>- Edge Computing: offline-first operation, quantized models, and a</a:t>
            </a:r>
          </a:p>
          <a:p>
            <a:r>
              <a:rPr sz="1100">
                <a:latin typeface="Inter"/>
              </a:rPr>
              <a:t>  Raspberry Pi companion node that mirrors parts of the device.</a:t>
            </a:r>
          </a:p>
          <a:p/>
          <a:p>
            <a:r>
              <a:rPr sz="1100">
                <a:latin typeface="Inter"/>
              </a:rPr>
              <a:t>These four domains are why we have a multi-layer architecture: the system</a:t>
            </a:r>
          </a:p>
          <a:p>
            <a:r>
              <a:rPr sz="1100">
                <a:latin typeface="Inter"/>
              </a:rPr>
              <a:t>inherits a constraint from each.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The five cards on this slide map to five concrete design decisions we</a:t>
            </a:r>
          </a:p>
          <a:p>
            <a:r>
              <a:rPr sz="1100">
                <a:latin typeface="Inter"/>
              </a:rPr>
              <a:t>made later:</a:t>
            </a:r>
          </a:p>
          <a:p/>
          <a:p>
            <a:r>
              <a:rPr sz="1100">
                <a:latin typeface="Inter"/>
              </a:rPr>
              <a:t>- Cloud Dependency → Local inference with llama.cpp, no remote APIs.</a:t>
            </a:r>
          </a:p>
          <a:p>
            <a:r>
              <a:rPr sz="1100">
                <a:latin typeface="Inter"/>
              </a:rPr>
              <a:t>- Limited OS Control → Accessibility-API-first, vision as fallback.</a:t>
            </a:r>
          </a:p>
          <a:p>
            <a:r>
              <a:rPr sz="1100">
                <a:latin typeface="Inter"/>
              </a:rPr>
              <a:t>- Weak Persistence → Hierarchical memory layer using ChromaDB.</a:t>
            </a:r>
          </a:p>
          <a:p>
            <a:r>
              <a:rPr sz="1100">
                <a:latin typeface="Inter"/>
              </a:rPr>
              <a:t>- Security Risks → Sanitization layer + restricted permissions.</a:t>
            </a:r>
          </a:p>
          <a:p>
            <a:r>
              <a:rPr sz="1100">
                <a:latin typeface="Inter"/>
              </a:rPr>
              <a:t>- No Safe Approval → Biometric HITL gate on the Raspberry Pi.</a:t>
            </a:r>
          </a:p>
          <a:p/>
          <a:p>
            <a:r>
              <a:rPr sz="1100">
                <a:latin typeface="Inter"/>
              </a:rPr>
              <a:t>The closing line is honest: the field tends to optimize for capability</a:t>
            </a:r>
          </a:p>
          <a:p>
            <a:r>
              <a:rPr sz="1100">
                <a:latin typeface="Inter"/>
              </a:rPr>
              <a:t>because it is visible to users. A.U.R.A. is optimized for capability</a:t>
            </a:r>
          </a:p>
          <a:p>
            <a:r>
              <a:rPr sz="1100">
                <a:latin typeface="Inter"/>
              </a:rPr>
              <a:t>under control.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The severity bars are intentional. Repetitive tasks are the most visible</a:t>
            </a:r>
          </a:p>
          <a:p>
            <a:r>
              <a:rPr sz="1100">
                <a:latin typeface="Inter"/>
              </a:rPr>
              <a:t>pressure but the least interesting one — we have had macro tools for years.</a:t>
            </a:r>
          </a:p>
          <a:p>
            <a:r>
              <a:rPr sz="1100">
                <a:latin typeface="Inter"/>
              </a:rPr>
              <a:t>Sensitive data is the pressure that drives our local-first design choice.</a:t>
            </a:r>
          </a:p>
          <a:p>
            <a:r>
              <a:rPr sz="1100">
                <a:latin typeface="Inter"/>
              </a:rPr>
              <a:t>Trust &amp; control is the binding constraint: any assistant that does not</a:t>
            </a:r>
          </a:p>
          <a:p>
            <a:r>
              <a:rPr sz="1100">
                <a:latin typeface="Inter"/>
              </a:rPr>
              <a:t>treat it as the binding constraint will eventually be uninstalled.</a:t>
            </a:r>
          </a:p>
          <a:p/>
          <a:p>
            <a:r>
              <a:rPr sz="1100">
                <a:latin typeface="Inter"/>
              </a:rPr>
              <a:t>The pull-quote at the bottom is the central research question of the</a:t>
            </a:r>
          </a:p>
          <a:p>
            <a:r>
              <a:rPr sz="1100">
                <a:latin typeface="Inter"/>
              </a:rPr>
              <a:t>project. Every later slide answers one part of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Ten rows, one axis: capability against control. Each row is a deliberate</a:t>
            </a:r>
          </a:p>
          <a:p>
            <a:r>
              <a:rPr sz="1100">
                <a:latin typeface="Inter"/>
              </a:rPr>
              <a:t>design move, not a marketing claim. When asked "why is this not just a</a:t>
            </a:r>
          </a:p>
          <a:p>
            <a:r>
              <a:rPr sz="1100">
                <a:latin typeface="Inter"/>
              </a:rPr>
              <a:t>rebrand of an existing assistant," I point at accessibility-first vs</a:t>
            </a:r>
          </a:p>
          <a:p>
            <a:r>
              <a:rPr sz="1100">
                <a:latin typeface="Inter"/>
              </a:rPr>
              <a:t>vision-primary — that single inversion changes the failure modes during</a:t>
            </a:r>
          </a:p>
          <a:p>
            <a:r>
              <a:rPr sz="1100">
                <a:latin typeface="Inter"/>
              </a:rPr>
              <a:t>automation.</a:t>
            </a:r>
          </a:p>
          <a:p/>
          <a:p>
            <a:r>
              <a:rPr sz="1100">
                <a:latin typeface="Inter"/>
              </a:rPr>
              <a:t>The amber-accented row is the biometric HITL row — it is the only row where</a:t>
            </a:r>
          </a:p>
          <a:p>
            <a:r>
              <a:rPr sz="1100">
                <a:latin typeface="Inter"/>
              </a:rPr>
              <a:t>the user must physically approve, not just confirm.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Six stages, one spine. The slide is intentionally horizontal because</a:t>
            </a:r>
          </a:p>
          <a:p>
            <a:r>
              <a:rPr sz="1100">
                <a:latin typeface="Inter"/>
              </a:rPr>
              <a:t>the audience should be able to read it left-to-right as a single sentence.</a:t>
            </a:r>
          </a:p>
          <a:p/>
          <a:p>
            <a:r>
              <a:rPr sz="1100">
                <a:latin typeface="Inter"/>
              </a:rPr>
              <a:t>Notice the data spine underneath — every stage writes context into the</a:t>
            </a:r>
          </a:p>
          <a:p>
            <a:r>
              <a:rPr sz="1100">
                <a:latin typeface="Inter"/>
              </a:rPr>
              <a:t>shared memory and reads it back. That is what gives the system continuity</a:t>
            </a:r>
          </a:p>
          <a:p>
            <a:r>
              <a:rPr sz="1100">
                <a:latin typeface="Inter"/>
              </a:rPr>
              <a:t>across sessions.</a:t>
            </a:r>
          </a:p>
          <a:p/>
          <a:p>
            <a:r>
              <a:rPr sz="1100">
                <a:latin typeface="Inter"/>
              </a:rPr>
              <a:t>The next slides unpack each stage: the key capabilities, the hardware</a:t>
            </a:r>
          </a:p>
          <a:p>
            <a:r>
              <a:rPr sz="1100">
                <a:latin typeface="Inter"/>
              </a:rPr>
              <a:t>that hosts them, the methodology of multi-agent task execution, and the</a:t>
            </a:r>
          </a:p>
          <a:p>
            <a:r>
              <a:rPr sz="1100">
                <a:latin typeface="Inter"/>
              </a:rPr>
              <a:t>local reasoning engine.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Ten capabilities. The "Biometric HITL" tile is the only one marked in</a:t>
            </a:r>
          </a:p>
          <a:p>
            <a:r>
              <a:rPr sz="1100">
                <a:latin typeface="Inter"/>
              </a:rPr>
              <a:t>amber because it is the only one that asks the user for a physical,</a:t>
            </a:r>
          </a:p>
          <a:p>
            <a:r>
              <a:rPr sz="1100">
                <a:latin typeface="Inter"/>
              </a:rPr>
              <a:t>not a digital, decision.</a:t>
            </a:r>
          </a:p>
          <a:p/>
          <a:p>
            <a:r>
              <a:rPr sz="1100">
                <a:latin typeface="Inter"/>
              </a:rPr>
              <a:t>If asked about capability vs. implementation, I map each tile to a slide</a:t>
            </a:r>
          </a:p>
          <a:p>
            <a:r>
              <a:rPr sz="1100">
                <a:latin typeface="Inter"/>
              </a:rPr>
              <a:t>that follows: 02 and 08 go to the local reasoning engine slide; 06, 08,</a:t>
            </a:r>
          </a:p>
          <a:p>
            <a:r>
              <a:rPr sz="1100">
                <a:latin typeface="Inter"/>
              </a:rPr>
              <a:t>10 go to the security slide; 09 is the hardware slide we are about to see.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This is the proof slide. On the left is the actual hardware we built —</a:t>
            </a:r>
          </a:p>
          <a:p>
            <a:r>
              <a:rPr sz="1100">
                <a:latin typeface="Inter"/>
              </a:rPr>
              <a:t>a Raspberry Pi 4 inside a 150 × 150 × 135 mm chassis, with a 45° Pepper's</a:t>
            </a:r>
          </a:p>
          <a:p>
            <a:r>
              <a:rPr sz="1100">
                <a:latin typeface="Inter"/>
              </a:rPr>
              <a:t>Ghost combiner glass, a 6-microphone array, a fingerprint sensor with amber</a:t>
            </a:r>
          </a:p>
          <a:p>
            <a:r>
              <a:rPr sz="1100">
                <a:latin typeface="Inter"/>
              </a:rPr>
              <a:t>LED ring, a 5MP camera for face detection, dual battery pack, and a</a:t>
            </a:r>
          </a:p>
          <a:p>
            <a:r>
              <a:rPr sz="1100">
                <a:latin typeface="Inter"/>
              </a:rPr>
              <a:t>status-LED strip.</a:t>
            </a:r>
          </a:p>
          <a:p/>
          <a:p>
            <a:r>
              <a:rPr sz="1100">
                <a:latin typeface="Inter"/>
              </a:rPr>
              <a:t>The right-hand diagram groups those 12 physical components into 4</a:t>
            </a:r>
          </a:p>
          <a:p>
            <a:r>
              <a:rPr sz="1100">
                <a:latin typeface="Inter"/>
              </a:rPr>
              <a:t>functional roles — Sensing, Compute, Reasoning+UI, Power+Protection —</a:t>
            </a:r>
          </a:p>
          <a:p>
            <a:r>
              <a:rPr sz="1100">
                <a:latin typeface="Inter"/>
              </a:rPr>
              <a:t>which is the same group structure as the layered architecture slide.</a:t>
            </a:r>
          </a:p>
          <a:p/>
          <a:p>
            <a:r>
              <a:rPr sz="1100">
                <a:latin typeface="Inter"/>
              </a:rPr>
              <a:t>What this slide is for: it lets the panel see the project is a physical</a:t>
            </a:r>
          </a:p>
          <a:p>
            <a:r>
              <a:rPr sz="1100">
                <a:latin typeface="Inter"/>
              </a:rPr>
              <a:t>system, not just diagrams. Demo question: "Is the projector feedback the</a:t>
            </a:r>
          </a:p>
          <a:p>
            <a:r>
              <a:rPr sz="1100">
                <a:latin typeface="Inter"/>
              </a:rPr>
              <a:t>same as the holographic display?" — No. The projector is on the Pi</a:t>
            </a:r>
          </a:p>
          <a:p>
            <a:r>
              <a:rPr sz="1100">
                <a:latin typeface="Inter"/>
              </a:rPr>
              <a:t>companion; the 45° combiner glass is on the device itself. Both are in</a:t>
            </a:r>
          </a:p>
          <a:p>
            <a:r>
              <a:rPr sz="1100">
                <a:latin typeface="Inter"/>
              </a:rPr>
              <a:t>the image.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Walk through the example literally. "Find, summarize, save to Documents"</a:t>
            </a:r>
          </a:p>
          <a:p>
            <a:r>
              <a:rPr sz="1100">
                <a:latin typeface="Inter"/>
              </a:rPr>
              <a:t>maps to: Step 02 (Brain parses three sub-goals); Step 03 (Manager breaks</a:t>
            </a:r>
          </a:p>
          <a:p>
            <a:r>
              <a:rPr sz="1100">
                <a:latin typeface="Inter"/>
              </a:rPr>
              <a:t>into 4 sub-tasks); Step 04 (Browser Agent locates the report on the web,</a:t>
            </a:r>
          </a:p>
          <a:p>
            <a:r>
              <a:rPr sz="1100">
                <a:latin typeface="Inter"/>
              </a:rPr>
              <a:t>Research Agent pulls content, File/OS Agent opens target folder); Step 05</a:t>
            </a:r>
          </a:p>
          <a:p>
            <a:r>
              <a:rPr sz="1100">
                <a:latin typeface="Inter"/>
              </a:rPr>
              <a:t>(Accessibility API for the save dialog, vision fallback only if the UI</a:t>
            </a:r>
          </a:p>
          <a:p>
            <a:r>
              <a:rPr sz="1100">
                <a:latin typeface="Inter"/>
              </a:rPr>
              <a:t>metadata is unavailable); Step 06 (verify the file exists and update</a:t>
            </a:r>
          </a:p>
          <a:p>
            <a:r>
              <a:rPr sz="1100">
                <a:latin typeface="Inter"/>
              </a:rPr>
              <a:t>memory).</a:t>
            </a:r>
          </a:p>
          <a:p/>
          <a:p>
            <a:r>
              <a:rPr sz="1100">
                <a:latin typeface="Inter"/>
              </a:rPr>
              <a:t>Important honesty: the example is what we use when we test the system.</a:t>
            </a:r>
          </a:p>
          <a:p>
            <a:r>
              <a:rPr sz="1100">
                <a:latin typeface="Inter"/>
              </a:rPr>
              <a:t>The numbers and accuracy aren't quoted because we don't yet have a</a:t>
            </a:r>
          </a:p>
          <a:p>
            <a:r>
              <a:rPr sz="1100">
                <a:latin typeface="Inter"/>
              </a:rPr>
              <a:t>benchmark pipeline — the contribution is the architecture itself.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The slide is split because the design decision is split. BitNet b1.58 2B</a:t>
            </a:r>
          </a:p>
          <a:p>
            <a:r>
              <a:rPr sz="1100">
                <a:latin typeface="Inter"/>
              </a:rPr>
              <a:t>is fast and very cheap to run; the quantized 7–8B model is heavier but does</a:t>
            </a:r>
          </a:p>
          <a:p>
            <a:r>
              <a:rPr sz="1100">
                <a:latin typeface="Inter"/>
              </a:rPr>
              <a:t>what the lightweight one cannot. We do not run the heavy model for every</a:t>
            </a:r>
          </a:p>
          <a:p>
            <a:r>
              <a:rPr sz="1100">
                <a:latin typeface="Inter"/>
              </a:rPr>
              <a:t>operation — that is the whole point.</a:t>
            </a:r>
          </a:p>
          <a:p/>
          <a:p>
            <a:r>
              <a:rPr sz="1100">
                <a:latin typeface="Inter"/>
              </a:rPr>
              <a:t>What model do we actually run? llama.cpp-based local inference. Both</a:t>
            </a:r>
          </a:p>
          <a:p>
            <a:r>
              <a:rPr sz="1100">
                <a:latin typeface="Inter"/>
              </a:rPr>
              <a:t>models are quantized so they fit on the Raspberry Pi 4's 4 GB of RAM.</a:t>
            </a:r>
          </a:p>
          <a:p/>
          <a:p>
            <a:r>
              <a:rPr sz="1100">
                <a:latin typeface="Inter"/>
              </a:rPr>
              <a:t>The honest note: classroom-grade quantized 7–8B models on a Pi are not</a:t>
            </a:r>
          </a:p>
          <a:p>
            <a:r>
              <a:rPr sz="1100">
                <a:latin typeface="Inter"/>
              </a:rPr>
              <a:t>GPT-4. The contribution is that we got the architecture working with a</a:t>
            </a:r>
          </a:p>
          <a:p>
            <a:r>
              <a:rPr sz="1100">
                <a:latin typeface="Inter"/>
              </a:rPr>
              <a:t>strict local-and-offline constraint, not that we beat any benchmark.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Four supporting modules. The amber-accented third module is the only</a:t>
            </a:r>
          </a:p>
          <a:p>
            <a:r>
              <a:rPr sz="1100">
                <a:latin typeface="Inter"/>
              </a:rPr>
              <a:t>physical-intervention gate in the system. The other three are software</a:t>
            </a:r>
          </a:p>
          <a:p>
            <a:r>
              <a:rPr sz="1100">
                <a:latin typeface="Inter"/>
              </a:rPr>
              <a:t>modules. This separation matters when a panel member asks "where does the</a:t>
            </a:r>
          </a:p>
          <a:p>
            <a:r>
              <a:rPr sz="1100">
                <a:latin typeface="Inter"/>
              </a:rPr>
              <a:t>HITL decision actually happen" — it happens on the Raspberry Pi</a:t>
            </a:r>
          </a:p>
          <a:p>
            <a:r>
              <a:rPr sz="1100">
                <a:latin typeface="Inter"/>
              </a:rPr>
              <a:t>companion, not in the assistant.</a:t>
            </a:r>
          </a:p>
          <a:p/>
          <a:p>
            <a:r>
              <a:rPr sz="1100">
                <a:latin typeface="Inter"/>
              </a:rPr>
              <a:t>State encryption: we use AES-256 with a key derived from a machine-bound</a:t>
            </a:r>
          </a:p>
          <a:p>
            <a:r>
              <a:rPr sz="1100">
                <a:latin typeface="Inter"/>
              </a:rPr>
              <a:t>seed. The honest limitation is that this is not yet a TPM-bound key —</a:t>
            </a:r>
          </a:p>
          <a:p>
            <a:r>
              <a:rPr sz="1100">
                <a:latin typeface="Inter"/>
              </a:rPr>
              <a:t>that is future work.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The flowchart is intentionally a single column. The audience should be</a:t>
            </a:r>
          </a:p>
          <a:p>
            <a:r>
              <a:rPr sz="1100">
                <a:latin typeface="Inter"/>
              </a:rPr>
              <a:t>able to trace any user command from top to bottom in one reading.</a:t>
            </a:r>
          </a:p>
          <a:p/>
          <a:p>
            <a:r>
              <a:rPr sz="1100">
                <a:latin typeface="Inter"/>
              </a:rPr>
              <a:t>The two diamonds are the places the system can deflect:</a:t>
            </a:r>
          </a:p>
          <a:p>
            <a:r>
              <a:rPr sz="1100">
                <a:latin typeface="Inter"/>
              </a:rPr>
              <a:t>- Comprehension: if Brain cannot understand the command, the flow loops</a:t>
            </a:r>
          </a:p>
          <a:p>
            <a:r>
              <a:rPr sz="1100">
                <a:latin typeface="Inter"/>
              </a:rPr>
              <a:t>  back to ask the user — A.U.R.A. does not invent intent.</a:t>
            </a:r>
          </a:p>
          <a:p>
            <a:r>
              <a:rPr sz="1100">
                <a:latin typeface="Inter"/>
              </a:rPr>
              <a:t>- Risk: if the action is high-risk, the flow freezes and requires a</a:t>
            </a:r>
          </a:p>
          <a:p>
            <a:r>
              <a:rPr sz="1100">
                <a:latin typeface="Inter"/>
              </a:rPr>
              <a:t>  fingerprint verification before continuing. That is the single</a:t>
            </a:r>
          </a:p>
          <a:p>
            <a:r>
              <a:rPr sz="1100">
                <a:latin typeface="Inter"/>
              </a:rPr>
              <a:t>  biometric gate in the whole system.</a:t>
            </a:r>
          </a:p>
          <a:p/>
          <a:p>
            <a:r>
              <a:rPr sz="1100">
                <a:latin typeface="Inter"/>
              </a:rPr>
              <a:t>Vision fallback is also a diamond. If accessibility metadata is not</a:t>
            </a:r>
          </a:p>
          <a:p>
            <a:r>
              <a:rPr sz="1100">
                <a:latin typeface="Inter"/>
              </a:rPr>
              <a:t>available, vision takes over; if that also fails, the task fails</a:t>
            </a:r>
          </a:p>
          <a:p>
            <a:r>
              <a:rPr sz="1100">
                <a:latin typeface="Inter"/>
              </a:rPr>
              <a:t>explicitly rather than producing a misleading result.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Five layers. The right-hand spine visualizes that A.U.R.A. is not a</a:t>
            </a:r>
          </a:p>
          <a:p>
            <a:r>
              <a:rPr sz="1100">
                <a:latin typeface="Inter"/>
              </a:rPr>
              <a:t>flat pipeline — it is a layered stack where every layer below serves</a:t>
            </a:r>
          </a:p>
          <a:p>
            <a:r>
              <a:rPr sz="1100">
                <a:latin typeface="Inter"/>
              </a:rPr>
              <a:t>every layer above.</a:t>
            </a:r>
          </a:p>
          <a:p/>
          <a:p>
            <a:r>
              <a:rPr sz="1100">
                <a:latin typeface="Inter"/>
              </a:rPr>
              <a:t>Honest layer attribution:</a:t>
            </a:r>
          </a:p>
          <a:p>
            <a:r>
              <a:rPr sz="1100">
                <a:latin typeface="Inter"/>
              </a:rPr>
              <a:t>- The Brain and Manager live in the orchestration layer.</a:t>
            </a:r>
          </a:p>
          <a:p>
            <a:r>
              <a:rPr sz="1100">
                <a:latin typeface="Inter"/>
              </a:rPr>
              <a:t>- BitNet and the quantized 7–8B model live in the intelligence layer.</a:t>
            </a:r>
          </a:p>
          <a:p>
            <a:r>
              <a:rPr sz="1100">
                <a:latin typeface="Inter"/>
              </a:rPr>
              <a:t>- The vision model and accessibility APIs live in the execution layer.</a:t>
            </a:r>
          </a:p>
          <a:p>
            <a:r>
              <a:rPr sz="1100">
                <a:latin typeface="Inter"/>
              </a:rPr>
              <a:t>- ChromaDB, SQLite, and AES-256 live in the data layer.</a:t>
            </a:r>
          </a:p>
          <a:p/>
          <a:p>
            <a:r>
              <a:rPr sz="1100">
                <a:latin typeface="Inter"/>
              </a:rPr>
              <a:t>The amber accent is reserved for the data layer because data protection</a:t>
            </a:r>
          </a:p>
          <a:p>
            <a:r>
              <a:rPr sz="1100">
                <a:latin typeface="Inter"/>
              </a:rPr>
              <a:t>is a foundational, not an add-on, property.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Six cards, one observation: there is no card titled "security is an</a:t>
            </a:r>
          </a:p>
          <a:p>
            <a:r>
              <a:rPr sz="1100">
                <a:latin typeface="Inter"/>
              </a:rPr>
              <a:t>afterthought" because security shapes the architecture here. The amber</a:t>
            </a:r>
          </a:p>
          <a:p>
            <a:r>
              <a:rPr sz="1100">
                <a:latin typeface="Inter"/>
              </a:rPr>
              <a:t>card is the same one as the biometric HITL module — it appears three</a:t>
            </a:r>
          </a:p>
          <a:p>
            <a:r>
              <a:rPr sz="1100">
                <a:latin typeface="Inter"/>
              </a:rPr>
              <a:t>times in the deck (features, integration, security) because the panel</a:t>
            </a:r>
          </a:p>
          <a:p>
            <a:r>
              <a:rPr sz="1100">
                <a:latin typeface="Inter"/>
              </a:rPr>
              <a:t>should always be able to point at it.</a:t>
            </a:r>
          </a:p>
          <a:p/>
          <a:p>
            <a:r>
              <a:rPr sz="1100">
                <a:latin typeface="Inter"/>
              </a:rPr>
              <a:t>Honest disclosure: I have not yet performed a formal red-team</a:t>
            </a:r>
          </a:p>
          <a:p>
            <a:r>
              <a:rPr sz="1100">
                <a:latin typeface="Inter"/>
              </a:rPr>
              <a:t>prompt-injection test or a sandboxing audit. The architecture supports</a:t>
            </a:r>
          </a:p>
          <a:p>
            <a:r>
              <a:rPr sz="1100">
                <a:latin typeface="Inter"/>
              </a:rPr>
              <a:t>them; doing them is a contribution, not a claim.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Inter"/>
              </a:rPr>
              <a:t>Closer. The four pillars mirror the user's expectations: local,</a:t>
            </a:r>
          </a:p>
          <a:p>
            <a:r>
              <a:rPr sz="1100">
                <a:latin typeface="Inter"/>
              </a:rPr>
              <a:t>automation that feels intelligent, interaction that survives in the wild,</a:t>
            </a:r>
          </a:p>
          <a:p>
            <a:r>
              <a:rPr sz="1100">
                <a:latin typeface="Inter"/>
              </a:rPr>
              <a:t>and privacy that survives an auditor.</a:t>
            </a:r>
          </a:p>
          <a:p/>
          <a:p>
            <a:r>
              <a:rPr sz="1100">
                <a:latin typeface="Inter"/>
              </a:rPr>
              <a:t>The closing line is the project's North Star — rephrase it if asked:</a:t>
            </a:r>
          </a:p>
          <a:p>
            <a:r>
              <a:rPr sz="1100">
                <a:latin typeface="Inter"/>
              </a:rPr>
              <a:t>A.U.R.A. is not trying to be the smartest assistant on the device. It is</a:t>
            </a:r>
          </a:p>
          <a:p>
            <a:r>
              <a:rPr sz="1100">
                <a:latin typeface="Inter"/>
              </a:rPr>
              <a:t>trying to be the only assistant the user can trust on the device.</a:t>
            </a:r>
          </a:p>
          <a:p/>
          <a:p>
            <a:r>
              <a:rPr sz="1100">
                <a:latin typeface="Inter"/>
              </a:rPr>
              <a:t>Open the floor for questions.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12700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FINAL YEAR PROJECT  ·  2026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960120"/>
            <a:ext cx="320040" cy="320040"/>
          </a:xfrm>
          <a:prstGeom prst="ellipse">
            <a:avLst/>
          </a:prstGeom>
          <a:solidFill>
            <a:srgbClr val="05080D"/>
          </a:solidFill>
          <a:ln w="19050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078992"/>
            <a:ext cx="82296" cy="82296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0292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0" b="1" i="0">
                <a:solidFill>
                  <a:srgbClr val="F2F6FB"/>
                </a:solidFill>
                <a:latin typeface="Space Grotesk"/>
              </a:rPr>
              <a:t>A.U.R.A.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B6C2D2"/>
                </a:solidFill>
                <a:latin typeface="Space Grotesk"/>
              </a:rPr>
              <a:t>Air-gapped · Unified · Responsive ·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D2"/>
                </a:solidFill>
                <a:latin typeface="Inter"/>
              </a:rPr>
              <a:t>A Locally-Run Multi-Agent System for Secure Computer &amp; OS Automation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1234439" cy="292608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0D9E8"/>
                </a:solidFill>
                <a:latin typeface="JetBrains Mono"/>
              </a:rPr>
              <a:t>LOCAL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3383280"/>
            <a:ext cx="2221992" cy="292608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0D9E8"/>
                </a:solidFill>
                <a:latin typeface="JetBrains Mono"/>
              </a:rPr>
              <a:t>MULTI-AGENT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96512" y="3383280"/>
            <a:ext cx="2057400" cy="292608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0D9E8"/>
                </a:solidFill>
                <a:latin typeface="JetBrains Mono"/>
              </a:rPr>
              <a:t>ZERO-TRUST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3383280"/>
            <a:ext cx="2715768" cy="292608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0D9E8"/>
                </a:solidFill>
                <a:latin typeface="JetBrains Mono"/>
              </a:rPr>
              <a:t>BIOMETRIC HITL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32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06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JetBrains Mono"/>
              </a:rPr>
              <a:t>Muhammad Hunzala Hasan — 25435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990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JetBrains Mono"/>
              </a:rPr>
              <a:t>Muhammad Taha Jabbar — 25421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91655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JetBrains Mono"/>
              </a:rPr>
              <a:t>Hafsa Ayub — 25588</a:t>
            </a:r>
          </a:p>
        </p:txBody>
      </p:sp>
      <p:pic>
        <p:nvPicPr>
          <p:cNvPr id="17" name="Picture 16" descr="image_a_device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640080"/>
            <a:ext cx="5989320" cy="399483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852160" y="6080760"/>
            <a:ext cx="5989320" cy="41148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614476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0D9E8"/>
                </a:solidFill>
                <a:latin typeface="JetBrains Mono"/>
              </a:rPr>
              <a:t>ADVANCED  ·  UNIFIED  ·  RESPONSIVE  · 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01  · 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A Multi-Domain System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D2"/>
                </a:solidFill>
                <a:latin typeface="Inter"/>
              </a:rPr>
              <a:t>A.U.R.A. sits at the intersection of four engineering domains — each one is a constraint the system must respect.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541264" cy="201168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D9E8"/>
                </a:solidFill>
                <a:latin typeface="JetBrains Mono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Local LLMs &amp; multi-agent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71216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Task interpretation · Planning &amp; 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63824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Local model inference · Agent coordination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2011680"/>
            <a:ext cx="5541264" cy="201168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2011680"/>
            <a:ext cx="73152" cy="2011680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212848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D9E8"/>
                </a:solidFill>
                <a:latin typeface="JetBrains Mono"/>
              </a:rPr>
              <a:t>COMPUTER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578608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OS &amp; application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871216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Accessibility-based UI targeting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163824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Background task execution · File &amp; app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456432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Human-like interaction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5541264" cy="201168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73152" cy="2011680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07408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D9E8"/>
                </a:solidFill>
                <a:latin typeface="JetBrains Mono"/>
              </a:rPr>
              <a:t>CYBERSECURITY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73168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Privacy, access control &amp; agent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65776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Zero-trust execution · Prompt-injection defense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58384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Restricted permissions · Human approval for high-risk 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1344" y="4206240"/>
            <a:ext cx="5541264" cy="201168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4206240"/>
            <a:ext cx="73152" cy="201168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4407408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347"/>
                </a:solidFill>
                <a:latin typeface="JetBrains Mono"/>
              </a:rPr>
              <a:t>EDGE COMPUTING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773168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Offline &amp; hardware-assisted computing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5065776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Local inference · CPU-efficient quantized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358384"/>
            <a:ext cx="5084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Raspberry Pi companion · Local encrypted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C2D2"/>
                </a:solidFill>
                <a:latin typeface="Inter"/>
              </a:rPr>
              <a:t>Useful automation requires all four — a single-domain solution is not enough.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02  ·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Why Existing AI Assistants Fall Short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D2"/>
                </a:solidFill>
                <a:latin typeface="Inter"/>
              </a:rPr>
              <a:t>Five gaps between how today's assistants are designed and what local computer automation actually requires.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3694176" cy="1874519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3694176" cy="731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JetBrains Mono"/>
              </a:rPr>
              <a:t>CLOUD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0632"/>
            <a:ext cx="3236976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2F6FB"/>
                </a:solidFill>
                <a:latin typeface="Inter"/>
              </a:rPr>
              <a:t>Reasoning and user context leave the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2057400"/>
            <a:ext cx="3694176" cy="1874519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2057400"/>
            <a:ext cx="3694176" cy="731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313432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JetBrains Mono"/>
              </a:rPr>
              <a:t>LIMITED OS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770632"/>
            <a:ext cx="3236976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2F6FB"/>
                </a:solidFill>
                <a:latin typeface="Inter"/>
              </a:rPr>
              <a:t>Cannot reliably perform multi-step desktop workflows.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1312" y="2057400"/>
            <a:ext cx="3694176" cy="1874519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2" y="2057400"/>
            <a:ext cx="3694176" cy="731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2313432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JetBrains Mono"/>
              </a:rPr>
              <a:t>WEAK CONTEXT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770632"/>
            <a:ext cx="3236976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2F6FB"/>
                </a:solidFill>
                <a:latin typeface="Inter"/>
              </a:rPr>
              <a:t>Preferences fragment across sessions.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95728" y="4114799"/>
            <a:ext cx="3694176" cy="1874519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95728" y="4114799"/>
            <a:ext cx="3694176" cy="731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0048" y="4370831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JetBrains Mono"/>
              </a:rPr>
              <a:t>SECURITY RISKS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828031"/>
            <a:ext cx="3236976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2F6FB"/>
                </a:solidFill>
                <a:latin typeface="Inter"/>
              </a:rPr>
              <a:t>Tool-using agents face malicious content and over-broad permissions.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2784" y="4114799"/>
            <a:ext cx="3694176" cy="1874519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4114799"/>
            <a:ext cx="3694176" cy="731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4370831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JetBrains Mono"/>
              </a:rPr>
              <a:t>NO SAFE APPROVAL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828031"/>
            <a:ext cx="3236976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2F6FB"/>
                </a:solidFill>
                <a:latin typeface="Inter"/>
              </a:rPr>
              <a:t>A confirm dialog is weaker than a meaningful authorization gate.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899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D2"/>
                </a:solidFill>
                <a:latin typeface="Inter"/>
              </a:rPr>
              <a:t>Existing assistants treat capability and control as a trade-off — usually defaulting to capability.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03  · 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Three Pressures on the Modern Computer 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2011680"/>
            <a:ext cx="3657600" cy="329184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2377440"/>
            <a:ext cx="164592" cy="256032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505456"/>
            <a:ext cx="164592" cy="243230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2860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6B6B"/>
                </a:solidFill>
                <a:latin typeface="JetBrains Mono"/>
              </a:rPr>
              <a:t>REPETITIVE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Open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9981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Manage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41071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Run searches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2160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Move between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03250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Repeat workflows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011680"/>
            <a:ext cx="3657600" cy="329184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377440"/>
            <a:ext cx="164592" cy="256032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2940711"/>
            <a:ext cx="164592" cy="1997049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347"/>
                </a:solidFill>
                <a:latin typeface="JetBrains Mono"/>
              </a:rPr>
              <a:t>SENSITIVE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Personal 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9981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41071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Work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72160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Private conversations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3250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Browser activity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011680"/>
            <a:ext cx="3657600" cy="329184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2377440"/>
            <a:ext cx="164592" cy="256032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3529584"/>
            <a:ext cx="164592" cy="1408176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22860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D9E8"/>
                </a:solidFill>
                <a:latin typeface="JetBrains Mono"/>
              </a:rPr>
              <a:t>TRUST &amp;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Users want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09981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without giving an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41071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6FB"/>
                </a:solidFill>
                <a:latin typeface="Inter"/>
              </a:rPr>
              <a:t>·  unrestricted system access.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F2F6FB"/>
                </a:solidFill>
                <a:latin typeface="Inter"/>
              </a:rPr>
              <a:t>"Can an AI agent perform useful computer tasks while keeping the user's data, reasoning and execution locally controlled?"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00D9E8"/>
                </a:solidFill>
                <a:latin typeface="JetBrains Mono"/>
              </a:rPr>
              <a:t>—  A.U.R.A. is designed around this question.  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04  ·  DESIGN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Conventional Assistant  →  A.U.R.A.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5632704" cy="45720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9904" y="1554480"/>
            <a:ext cx="5641848" cy="45720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A7A8E"/>
                </a:solidFill>
                <a:latin typeface="JetBrains Mono"/>
              </a:rPr>
              <a:t>CONVENTIONAL AI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16733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JetBrains Mono"/>
              </a:rPr>
              <a:t>A.U.R.A.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632704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9904" y="2057400"/>
            <a:ext cx="5641848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Cloud-based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21214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Local 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2221992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" y="2414016"/>
            <a:ext cx="5632704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4" y="2414016"/>
            <a:ext cx="5641848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7802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API-dependent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47802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Local quantized models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32120" y="2578608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" y="2770632"/>
            <a:ext cx="5632704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9904" y="2770632"/>
            <a:ext cx="5641848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346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Chat-oriented interaction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28346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Task-oriented OS automation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32120" y="2935224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7200" y="3127248"/>
            <a:ext cx="5632704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9904" y="3127248"/>
            <a:ext cx="5641848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9125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Single assistant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19125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Multi-agent orchestration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532120" y="3291840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57200" y="3483864"/>
            <a:ext cx="5632704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483864"/>
            <a:ext cx="5641848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5478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Limited persistent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5478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Hierarchical long-term memory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532120" y="3648456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57200" y="3840480"/>
            <a:ext cx="5632704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9904" y="3840480"/>
            <a:ext cx="5641848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9044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Accessibility often secondary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39044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Accessibility-first interaction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32120" y="4005072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57200" y="4197096"/>
            <a:ext cx="5632704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89904" y="4197096"/>
            <a:ext cx="5641848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6110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Vision as primary method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26110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Vision as fallback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532120" y="4361688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57200" y="4553712"/>
            <a:ext cx="5632704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89904" y="4553712"/>
            <a:ext cx="5641848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6177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Broad permissions (risk)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46177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Restricted-permission execution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532120" y="4718304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57200" y="4910328"/>
            <a:ext cx="5632704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4910328"/>
            <a:ext cx="5641848" cy="356616"/>
          </a:xfrm>
          <a:prstGeom prst="rect">
            <a:avLst/>
          </a:prstGeom>
          <a:solidFill>
            <a:srgbClr val="0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97433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Basic confirmation dialogs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2784" y="497433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Biometric HITL approval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532120" y="5074920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57200" y="5266944"/>
            <a:ext cx="5632704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89904" y="5266944"/>
            <a:ext cx="5641848" cy="356616"/>
          </a:xfrm>
          <a:prstGeom prst="rect">
            <a:avLst/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33095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Sensitive state may leave device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4" y="533095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Inter"/>
              </a:rPr>
              <a:t>Encrypted local storage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532120" y="5431536"/>
            <a:ext cx="502920" cy="0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2F6FB"/>
                </a:solidFill>
                <a:latin typeface="Inter"/>
              </a:rPr>
              <a:t>Useful automation without sacrificing local privacy and user control.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05  · 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Six Stages From Command to Result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D2"/>
                </a:solidFill>
                <a:latin typeface="Inter"/>
              </a:rPr>
              <a:t>A single end-to-end view — the rest of the deck unpacks each stage.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4937760"/>
            <a:ext cx="11292840" cy="0"/>
          </a:xfrm>
          <a:prstGeom prst="line">
            <a:avLst/>
          </a:prstGeom>
          <a:ln w="12700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5047488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DATA SPINE  ·  shared context flows across all six stages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828800" cy="21945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82880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06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D9E8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004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USER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4904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Natural-language via
local UI or voice.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0572" y="3566160.0"/>
            <a:ext cx="109728" cy="0.0"/>
          </a:xfrm>
          <a:prstGeom prst="line">
            <a:avLst/>
          </a:prstGeom>
          <a:ln w="1905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404872" y="2331720"/>
            <a:ext cx="1828800" cy="21945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04872" y="2331720"/>
            <a:ext cx="182880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2606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D9E8"/>
                </a:solidFill>
                <a:latin typeface="JetBrai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2004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74904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Interprets intent
and identifies the task.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38244" y="3566160.0"/>
            <a:ext cx="109728" cy="0.0"/>
          </a:xfrm>
          <a:prstGeom prst="line">
            <a:avLst/>
          </a:prstGeom>
          <a:ln w="1905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52544" y="2331720"/>
            <a:ext cx="1828800" cy="21945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2331720"/>
            <a:ext cx="182880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2606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D9E8"/>
                </a:solidFill>
                <a:latin typeface="JetBrains Mon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2004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74904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Decomposes the task;
selects sub-agents.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85916" y="3566160.0"/>
            <a:ext cx="109728" cy="0.0"/>
          </a:xfrm>
          <a:prstGeom prst="line">
            <a:avLst/>
          </a:prstGeom>
          <a:ln w="1905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300216" y="2331720"/>
            <a:ext cx="1828800" cy="21945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0216" y="2331720"/>
            <a:ext cx="182880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2606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D9E8"/>
                </a:solidFill>
                <a:latin typeface="JetBrains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4" y="32004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SUB-AGENTS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374904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Browser · File/OS · Comm ·
Security · Research.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33588" y="3566160.0"/>
            <a:ext cx="109728" cy="0.0"/>
          </a:xfrm>
          <a:prstGeom prst="line">
            <a:avLst/>
          </a:prstGeom>
          <a:ln w="1905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247888" y="2331720"/>
            <a:ext cx="1828800" cy="21945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47888" y="2331720"/>
            <a:ext cx="182880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9056" y="2606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D9E8"/>
                </a:solidFill>
                <a:latin typeface="JetBrains Mono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9056" y="32004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LOCAL 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74904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Accessibility APIs,
approved tools, sandboxing.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081260" y="3566160.0"/>
            <a:ext cx="109728" cy="0.0"/>
          </a:xfrm>
          <a:prstGeom prst="line">
            <a:avLst/>
          </a:prstGeom>
          <a:ln w="1905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195560" y="2331720"/>
            <a:ext cx="1828800" cy="21945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95560" y="2331720"/>
            <a:ext cx="182880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6728" y="2606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D9E8"/>
                </a:solidFill>
                <a:latin typeface="JetBrains Mono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96728" y="32004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VERIFY &amp; RESPOND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96728" y="374904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Validate, record state,
return outcome.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6C2D2"/>
                </a:solidFill>
                <a:latin typeface="Inter"/>
              </a:rPr>
              <a:t>Brain interprets. Manager plans. Sub-agents execute under rules. Manager verifies.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06  ·  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Ten Engineered Capabilities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D2"/>
                </a:solidFill>
                <a:latin typeface="Inter"/>
              </a:rPr>
              <a:t>Each capability corresponds to a concrete subsystem. None are aspirational.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24942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04288"/>
            <a:ext cx="182880" cy="182880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MULTI-AGENT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Brain, Manager, and specialized agents cooperate with shared context.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5496" y="2011680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25496" y="2011680"/>
            <a:ext cx="224942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9816" y="2304288"/>
            <a:ext cx="182880" cy="182880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267712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265176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HYBRID LOCAL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6" y="3108960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BitNet b1.58 2B for routing + quantized 7–8B for complex reasoning.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3792" y="2011680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93792" y="2011680"/>
            <a:ext cx="224942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68112" y="2304288"/>
            <a:ext cx="182880" cy="182880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2267712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265176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BACKGROUND OS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3108960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Accessibility APIs target UI elements directly.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62088" y="2011680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62088" y="2011680"/>
            <a:ext cx="224942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36408" y="2304288"/>
            <a:ext cx="182880" cy="182880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8" y="2267712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265176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VISION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3108960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Screenshot-based understanding when accessibility metadata is missing.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30384" y="2011680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30384" y="2011680"/>
            <a:ext cx="224942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04704" y="2304288"/>
            <a:ext cx="182880" cy="182880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79024" y="2267712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04704" y="265176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LONG-TERM 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4704" y="3108960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Habits, preferences, and references for cross-session continuity.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42232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142232"/>
            <a:ext cx="224942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" y="4434840"/>
            <a:ext cx="182880" cy="182880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39826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82312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ZERO-TRUST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239512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Untrusted web content is sanitized before reaching the AI.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25496" y="4142232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25496" y="4142232"/>
            <a:ext cx="224942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9816" y="4434840"/>
            <a:ext cx="182880" cy="182880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439826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9816" y="4782312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CONTROLLED INTERACTION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99816" y="5239512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Platform-aware rate limits and interaction policies.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93792" y="4142232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93792" y="4142232"/>
            <a:ext cx="2249424" cy="73152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68112" y="4434840"/>
            <a:ext cx="182880" cy="182880"/>
          </a:xfrm>
          <a:prstGeom prst="ellipse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42432" y="439826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68112" y="4782312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BIOMETRIC HITL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5239512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High-risk actions pause for fingerprint verification.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62088" y="4142232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62088" y="4142232"/>
            <a:ext cx="224942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36408" y="4434840"/>
            <a:ext cx="182880" cy="182880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10728" y="439826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36408" y="4782312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RASPBERRY PI COMPANION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5239512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Wake-word mic · fingerprint sensor · projector feedback.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30384" y="4142232"/>
            <a:ext cx="2249424" cy="19659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930384" y="4142232"/>
            <a:ext cx="224942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204704" y="4434840"/>
            <a:ext cx="182880" cy="182880"/>
          </a:xfrm>
          <a:prstGeom prst="ellipse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79024" y="439826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A7A8E"/>
                </a:solidFill>
                <a:latin typeface="JetBrains Mono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04704" y="4782312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6FB"/>
                </a:solidFill>
                <a:latin typeface="Space Grotesk"/>
              </a:rPr>
              <a:t>ENCRYPTED LOCAL STORAGE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04704" y="5239512"/>
            <a:ext cx="17922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AES-256 protects memory and local state databases.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07  ·  HARDWARE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From Architecture to a Real Device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_b_hardware_expl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903720" cy="46047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55448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FUNCTIONAL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74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C2D2"/>
                </a:solidFill>
                <a:latin typeface="Inter"/>
              </a:rPr>
              <a:t>12 components, 4 roles.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240280"/>
            <a:ext cx="4114800" cy="978408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2240280"/>
            <a:ext cx="73152" cy="978408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749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SENSING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60904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(6) Mic Array 6-MIC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19" y="2660904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(3) Fingerprint Sensor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935224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(2) 5MP Camera OV5647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19" y="2935224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(12) Ambient Light Strip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3310128"/>
            <a:ext cx="4114800" cy="978408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3310128"/>
            <a:ext cx="73152" cy="978408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3419856"/>
            <a:ext cx="3749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COMPUTE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730752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(5) Raspberry Pi 4 Model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19" y="3730752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(11) USB Hub 4-port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4005072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(4) Custom I/O &amp; Sensor 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4379976"/>
            <a:ext cx="4114800" cy="978408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4379976"/>
            <a:ext cx="73152" cy="978408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489704"/>
            <a:ext cx="3749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REASONING +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4800600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(1) 45° Holographic Display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19" y="4800600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(9) Speaker 5W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5074920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(10) LED Status Indicators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5449824"/>
            <a:ext cx="4114800" cy="978408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5449824"/>
            <a:ext cx="73152" cy="978408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5559552"/>
            <a:ext cx="3749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B347"/>
                </a:solidFill>
                <a:latin typeface="JetBrains Mono"/>
              </a:rPr>
              <a:t>POWER + PROTECTION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5870448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(7) Battery Pack 3.7V/5000mAh ×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19" y="5870448"/>
            <a:ext cx="1874519" cy="237744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F2F6FB"/>
                </a:solidFill>
                <a:latin typeface="JetBrains Mono"/>
              </a:rPr>
              <a:t>(8) Power Management Module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52160"/>
            <a:ext cx="11274552" cy="50292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6C2D2"/>
                </a:solidFill>
                <a:latin typeface="JetBrains Mono"/>
              </a:rPr>
              <a:t>DIMENSIONS  150 × 150 × 135 mm     ·     WEIGHT  ~1.2 kg     ·     CONNECTIVITY  Wi-Fi · Bluetooth · USB 2.0/3.0     ·     STORAGE  32 GB MicroSD     ·     OS  Custom Secure Linux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08  ·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Multi-Agent Task Execution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C2D2"/>
                </a:solidFill>
                <a:latin typeface="Inter"/>
              </a:rPr>
              <a:t>One example task, six stages, five specialized agents.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74552" cy="548640"/>
          </a:xfrm>
          <a:prstGeom prst="rect">
            <a:avLst/>
          </a:prstGeom>
          <a:solidFill>
            <a:srgbClr val="0A121C"/>
          </a:solidFill>
          <a:ln w="9525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EXAMPLE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71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2F6FB"/>
                </a:solidFill>
                <a:latin typeface="Inter"/>
              </a:rPr>
              <a:t>"Find the project report, summarize it, and save the summary in the Documents folder."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6766560" cy="50292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73152" cy="502920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7063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5234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Space Grotesk"/>
              </a:rPr>
              <a:t>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900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Natural-language command issued by the user.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.0" y="3204972"/>
            <a:ext cx="0.0" cy="96012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3310128"/>
            <a:ext cx="6766560" cy="50292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10128"/>
            <a:ext cx="73152" cy="502920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STEP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3649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Space Grotesk"/>
              </a:rPr>
              <a:t>INTENT UNDERSTANDING  (Brain)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60273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Identifies: user goal · required apps · required info · expected result.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0.0" y="3817620"/>
            <a:ext cx="0.0" cy="96012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7200" y="3922776"/>
            <a:ext cx="6766560" cy="50292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22776"/>
            <a:ext cx="73152" cy="502920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9592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STEP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977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Space Grotesk"/>
              </a:rPr>
              <a:t>TASK DECOMPOSITION  (Manager)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21538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Locate report · Read content · Generate summary · Open target folder · Save output · Verify completion.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0.0" y="4430268"/>
            <a:ext cx="0.0" cy="96012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7200" y="4535424"/>
            <a:ext cx="6766560" cy="50292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535424"/>
            <a:ext cx="73152" cy="502920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6085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STEP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5902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Space Grotesk"/>
              </a:rPr>
              <a:t>AGENT ROUTING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828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File/OS · Research · Browser · Communication · Security.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40480.0" y="5042916"/>
            <a:ext cx="0.0" cy="96012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57200" y="5148072"/>
            <a:ext cx="6766560" cy="50292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148072"/>
            <a:ext cx="73152" cy="502920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212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STEP 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20293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Space Grotesk"/>
              </a:rPr>
              <a:t>CONTROLLED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440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Accessibility API → element found? → YES: direct  / NO: vision fallback.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840480.0" y="5655564"/>
            <a:ext cx="0.0" cy="96012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57200" y="5760720"/>
            <a:ext cx="6766560" cy="50292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760720"/>
            <a:ext cx="73152" cy="502920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83387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STEP 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81558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F6FB"/>
                </a:solidFill>
                <a:latin typeface="Space Grotesk"/>
              </a:rPr>
              <a:t>RESULT VERIFICATION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60533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Confirm completion · update memory · record state · return result.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2697480"/>
            <a:ext cx="4251960" cy="324612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2862072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AGENT ROUTING  →  STEP 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31089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C2D2"/>
                </a:solidFill>
                <a:latin typeface="Inter"/>
              </a:rPr>
              <a:t>Manager dispatches to the right specialist.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399" y="3566160"/>
            <a:ext cx="3794760" cy="36576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79" y="363931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Space Grotesk"/>
              </a:rPr>
              <a:t>Browser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59" y="363931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Locate report on the web.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399" y="4005072"/>
            <a:ext cx="3794760" cy="36576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79" y="407822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Space Grotesk"/>
              </a:rPr>
              <a:t>File / OS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8359" y="407822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Open target folders, save outputs.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399" y="4443984"/>
            <a:ext cx="3794760" cy="36576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45171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Space Grotesk"/>
              </a:rPr>
              <a:t>Research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45171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Pull relevant content snippets.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399" y="4882896"/>
            <a:ext cx="3794760" cy="36576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55279" y="495604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Space Grotesk"/>
              </a:rPr>
              <a:t>Communication 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38359" y="495604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Email / message follow-ups.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399" y="5321808"/>
            <a:ext cx="3794760" cy="36576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79" y="53949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Space Grotesk"/>
              </a:rPr>
              <a:t>Security Agent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59" y="53949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Inter"/>
              </a:rPr>
              <a:t>Validate permissions, gates.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solidFill>
            <a:srgbClr val="111B2A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062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0D9E8"/>
                </a:solidFill>
                <a:latin typeface="JetBrains Mono"/>
              </a:rPr>
              <a:t>STEP 05  ·  Accessibility API  →  UI element found?  →  YES: Direct interaction   |   NO: Vision fallback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09  · 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Hybrid Quantized Local Reasoning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C2D2"/>
                </a:solidFill>
                <a:latin typeface="Inter"/>
              </a:rPr>
              <a:t>Two models on the same device. Routing is itself a model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212080" cy="3520440"/>
          </a:xfrm>
          <a:prstGeom prst="rect">
            <a:avLst/>
          </a:prstGeom>
          <a:solidFill>
            <a:srgbClr val="0A121C"/>
          </a:solidFill>
          <a:ln w="1270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D9E8"/>
                </a:solidFill>
                <a:latin typeface="JetBrains Mono"/>
              </a:rPr>
              <a:t>ROUTING / LIGHTWEIGHT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2F6FB"/>
                </a:solidFill>
                <a:latin typeface="Space Grotesk"/>
              </a:rPr>
              <a:t>BitNet b1.58 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Fast classification · intent routing · simple decisions · low-resource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199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·  Classify task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97095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·  Route to the right sub-agent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0799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·  Confirm whether vision fallback is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1888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·  Detect language / domain of the user 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5212080" cy="3520440"/>
          </a:xfrm>
          <a:prstGeom prst="rect">
            <a:avLst/>
          </a:prstGeom>
          <a:solidFill>
            <a:srgbClr val="0A121C"/>
          </a:solidFill>
          <a:ln w="1270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D9E8"/>
                </a:solidFill>
                <a:latin typeface="JetBrains Mono"/>
              </a:rPr>
              <a:t>COMPLEX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2F6FB"/>
                </a:solidFill>
                <a:latin typeface="Space Grotesk"/>
              </a:rPr>
              <a:t>Quantized 7–8B 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Multi-step reasoning · task planning · context interpretation · complex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86199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·  Decompose multi-step 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197095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·  Generate the summary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50799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·  Plan file/folder operations 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1888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·  Resolve ambiguous or partial user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38328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D9E8"/>
                </a:solidFill>
                <a:latin typeface="JetBrains Mono"/>
              </a:rPr>
              <a:t>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703320"/>
            <a:ext cx="457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B6C2D2"/>
                </a:solidFill>
                <a:latin typeface="JetBrains Mono"/>
              </a:rPr>
              <a:t>Simple task
→
lightweight
Complex task
→
larger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1874520"/>
            <a:ext cx="10058400" cy="0"/>
          </a:xfrm>
          <a:prstGeom prst="line">
            <a:avLst/>
          </a:prstGeom>
          <a:ln w="12700">
            <a:solidFill>
              <a:srgbClr val="0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16002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D9E8"/>
                </a:solidFill>
                <a:latin typeface="JetBrains Mono"/>
              </a:rPr>
              <a:t>ONE DEVICE  ·  TWO TIERS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23560"/>
            <a:ext cx="11274552" cy="731520"/>
          </a:xfrm>
          <a:prstGeom prst="rect">
            <a:avLst/>
          </a:prstGeom>
          <a:solidFill>
            <a:srgbClr val="111B2A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D9E8"/>
                </a:solidFill>
                <a:latin typeface="JetBrains Mono"/>
              </a:rPr>
              <a:t>WHY HYBRID?  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2F6FB"/>
                </a:solidFill>
                <a:latin typeface="Inter"/>
              </a:rPr>
              <a:t>Running the larger model for every operation is wasteful. Simple tasks route to BitNet; complex reasoning routes to the 7–8B model.</a:t>
            </a:r>
          </a:p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6C2D2"/>
                </a:solidFill>
                <a:latin typeface="Inter"/>
              </a:rPr>
              <a:t>  ·  Expected benefits: reduced compute overhead · better CPU use · lower local inference cost · more practical offline operation.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10  · 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Memory, Security &amp; Agent Control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C2D2"/>
                </a:solidFill>
                <a:latin typeface="Inter"/>
              </a:rPr>
              <a:t>Four supporting modules that turn a multi-agent loop into a trustworthy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2798064" cy="370332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279806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6712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01  ·  LONG-TERM MEMORY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60320"/>
            <a:ext cx="2066544" cy="365760"/>
          </a:xfrm>
          <a:prstGeom prst="rect">
            <a:avLst/>
          </a:prstGeom>
          <a:solidFill>
            <a:srgbClr val="111B2A"/>
          </a:solidFill>
          <a:ln w="635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Preferences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17520"/>
            <a:ext cx="2066544" cy="365760"/>
          </a:xfrm>
          <a:prstGeom prst="rect">
            <a:avLst/>
          </a:prstGeom>
          <a:solidFill>
            <a:srgbClr val="111B2A"/>
          </a:solidFill>
          <a:ln w="635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Repeated Workflows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74720"/>
            <a:ext cx="2066544" cy="365760"/>
          </a:xfrm>
          <a:prstGeom prst="rect">
            <a:avLst/>
          </a:prstGeom>
          <a:solidFill>
            <a:srgbClr val="111B2A"/>
          </a:solidFill>
          <a:ln w="635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4787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Useful File Paths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31920"/>
            <a:ext cx="2066544" cy="365760"/>
          </a:xfrm>
          <a:prstGeom prst="rect">
            <a:avLst/>
          </a:prstGeom>
          <a:solidFill>
            <a:srgbClr val="111B2A"/>
          </a:solidFill>
          <a:ln w="635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0507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Historical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6C2D2"/>
                </a:solidFill>
                <a:latin typeface="JetBrains Mono"/>
              </a:rPr>
              <a:t>ChromaDB · Local retrieval.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23408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C2D2"/>
                </a:solidFill>
                <a:latin typeface="Inter"/>
              </a:rPr>
              <a:t>Stores habits, preferences, and references so the system is the same person across sessions.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46704" y="1965960"/>
            <a:ext cx="2798064" cy="370332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46704" y="1965960"/>
            <a:ext cx="279806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216712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02  ·  SECURITY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2464" y="2788920"/>
            <a:ext cx="2066544" cy="411480"/>
          </a:xfrm>
          <a:prstGeom prst="rect">
            <a:avLst/>
          </a:prstGeom>
          <a:solidFill>
            <a:srgbClr val="111B2A"/>
          </a:solidFill>
          <a:ln w="63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03904" y="288036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F6FB"/>
                </a:solidFill>
                <a:latin typeface="Inter"/>
              </a:rPr>
              <a:t>Web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45736.0" y="3218688"/>
            <a:ext cx="0.0" cy="54864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712464" y="3291840"/>
            <a:ext cx="2066544" cy="411480"/>
          </a:xfrm>
          <a:prstGeom prst="rect">
            <a:avLst/>
          </a:prstGeom>
          <a:solidFill>
            <a:srgbClr val="111B2A"/>
          </a:solidFill>
          <a:ln w="635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03904" y="33832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Sanitize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45736.0" y="3721608"/>
            <a:ext cx="0.0" cy="54864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712464" y="3794760"/>
            <a:ext cx="2066544" cy="411480"/>
          </a:xfrm>
          <a:prstGeom prst="rect">
            <a:avLst/>
          </a:prstGeom>
          <a:solidFill>
            <a:srgbClr val="111B2A"/>
          </a:solidFill>
          <a:ln w="635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3904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Representation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45736.0" y="4224528"/>
            <a:ext cx="0.0" cy="54864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712464" y="4297680"/>
            <a:ext cx="2066544" cy="411480"/>
          </a:xfrm>
          <a:prstGeom prst="rect">
            <a:avLst/>
          </a:prstGeom>
          <a:solidFill>
            <a:srgbClr val="111B2A"/>
          </a:solidFill>
          <a:ln w="635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03904" y="438912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AI 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1024" y="5074920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C2D2"/>
                </a:solidFill>
                <a:latin typeface="Inter"/>
              </a:rPr>
              <a:t>External content never reaches the AI in raw form. Reduces indirect prompt-injection surface.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1965960"/>
            <a:ext cx="2798064" cy="3703320"/>
          </a:xfrm>
          <a:prstGeom prst="rect">
            <a:avLst/>
          </a:prstGeom>
          <a:solidFill>
            <a:srgbClr val="0A121C"/>
          </a:solidFill>
          <a:ln w="1270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1965960"/>
            <a:ext cx="2798064" cy="73152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216712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B347"/>
                </a:solidFill>
                <a:latin typeface="JetBrains Mono"/>
              </a:rPr>
              <a:t>03  ·  BIOMETRIC CONTROL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01968" y="2788920"/>
            <a:ext cx="2066544" cy="365760"/>
          </a:xfrm>
          <a:prstGeom prst="rect">
            <a:avLst/>
          </a:prstGeom>
          <a:solidFill>
            <a:srgbClr val="111B2A"/>
          </a:solidFill>
          <a:ln w="9525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3408" y="286207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Request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35240.0" y="3172968"/>
            <a:ext cx="0.0" cy="54864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601968" y="3246120"/>
            <a:ext cx="2066544" cy="365760"/>
          </a:xfrm>
          <a:prstGeom prst="rect">
            <a:avLst/>
          </a:prstGeom>
          <a:solidFill>
            <a:srgbClr val="111B2A"/>
          </a:solidFill>
          <a:ln w="9525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93408" y="331927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Risk Check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35240.0" y="3630168"/>
            <a:ext cx="0.0" cy="54864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601968" y="3703320"/>
            <a:ext cx="2066544" cy="365760"/>
          </a:xfrm>
          <a:prstGeom prst="rect">
            <a:avLst/>
          </a:prstGeom>
          <a:solidFill>
            <a:srgbClr val="111B2A"/>
          </a:solidFill>
          <a:ln w="9525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93408" y="377647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Action Frozen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35240.0" y="4087368"/>
            <a:ext cx="0.0" cy="54864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601968" y="4160520"/>
            <a:ext cx="2066544" cy="365760"/>
          </a:xfrm>
          <a:prstGeom prst="rect">
            <a:avLst/>
          </a:prstGeom>
          <a:solidFill>
            <a:srgbClr val="FFB347"/>
          </a:solidFill>
          <a:ln w="9525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93408" y="423367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080D"/>
                </a:solidFill>
                <a:latin typeface="Inter"/>
              </a:rPr>
              <a:t>Fingerprint Verify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635240.0" y="4544568"/>
            <a:ext cx="0.0" cy="54864"/>
          </a:xfrm>
          <a:prstGeom prst="line">
            <a:avLst/>
          </a:prstGeom>
          <a:ln w="12700">
            <a:solidFill>
              <a:srgbClr val="FFB3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601968" y="4617720"/>
            <a:ext cx="2066544" cy="365760"/>
          </a:xfrm>
          <a:prstGeom prst="rect">
            <a:avLst/>
          </a:prstGeom>
          <a:solidFill>
            <a:srgbClr val="111B2A"/>
          </a:solidFill>
          <a:ln w="9525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93408" y="4690872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F6FB"/>
                </a:solidFill>
                <a:latin typeface="Inter"/>
              </a:rPr>
              <a:t>Approved Execution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5120640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C2D2"/>
                </a:solidFill>
                <a:latin typeface="Inter"/>
              </a:rPr>
              <a:t>Physical biometric pause before high-risk actions. The fingerprint ring is amber — that is the user's only cue.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25712" y="1965960"/>
            <a:ext cx="2798064" cy="370332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25712" y="1965960"/>
            <a:ext cx="2798064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00032" y="216712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04  ·  ENCRYPTED STATE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91472" y="2788920"/>
            <a:ext cx="2066544" cy="1417320"/>
          </a:xfrm>
          <a:prstGeom prst="rect">
            <a:avLst/>
          </a:prstGeom>
          <a:solidFill>
            <a:srgbClr val="111B2A"/>
          </a:solidFill>
          <a:ln w="9525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91472" y="2834640"/>
            <a:ext cx="2066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D9E8"/>
                </a:solidFill>
                <a:latin typeface="JetBrains Mono"/>
              </a:rPr>
              <a:t>AES-256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0" y="3291840"/>
            <a:ext cx="868680" cy="36576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0" y="33649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2F6FB"/>
                </a:solidFill>
                <a:latin typeface="JetBrains Mono"/>
              </a:rPr>
              <a:t>ChromaDB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79608" y="3291840"/>
            <a:ext cx="868680" cy="36576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79608" y="33649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2F6FB"/>
                </a:solidFill>
                <a:latin typeface="JetBrains Mono"/>
              </a:rPr>
              <a:t>SQLite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4315968"/>
            <a:ext cx="2066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F2F6FB"/>
                </a:solidFill>
                <a:latin typeface="Inter"/>
              </a:rPr>
              <a:t>Local-only state management. No remote sync.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00032" y="5120640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C2D2"/>
                </a:solidFill>
                <a:latin typeface="Inter"/>
              </a:rPr>
              <a:t>Memory and state live on the same encrypted volume. Loss of the device is loss of encryption keys, not data leakage.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11  · 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From User Command to Verified Result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C2D2"/>
                </a:solidFill>
                <a:latin typeface="Inter"/>
              </a:rPr>
              <a:t>One flowchart that the entire system follows. Decisions are diamonds; gates are amber.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2011680"/>
            <a:ext cx="3657600" cy="411480"/>
          </a:xfrm>
          <a:prstGeom prst="rect">
            <a:avLst/>
          </a:prstGeom>
          <a:solidFill>
            <a:srgbClr val="0A121C"/>
          </a:solidFill>
          <a:ln w="9525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2F6FB"/>
                </a:solidFill>
                <a:latin typeface="Space Grotesk"/>
              </a:rPr>
              <a:t>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2532888"/>
            <a:ext cx="3657600" cy="411480"/>
          </a:xfrm>
          <a:prstGeom prst="rect">
            <a:avLst/>
          </a:prstGeom>
          <a:solidFill>
            <a:srgbClr val="0A121C"/>
          </a:solidFill>
          <a:ln w="9525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2F6FB"/>
                </a:solidFill>
                <a:latin typeface="Space Grotesk"/>
              </a:rPr>
              <a:t>User Command</a:t>
            </a:r>
          </a:p>
          <a:p>
            <a:pPr algn="ctr"/>
            <a:r>
              <a:rPr sz="850">
                <a:solidFill>
                  <a:srgbClr val="6A7A8E"/>
                </a:solidFill>
                <a:latin typeface="JetBrains Mono"/>
              </a:rPr>
              <a:t>Natural language / voice</a:t>
            </a:r>
          </a:p>
        </p:txBody>
      </p:sp>
      <p:sp>
        <p:nvSpPr>
          <p:cNvPr id="8" name="Diamond 7"/>
          <p:cNvSpPr/>
          <p:nvPr/>
        </p:nvSpPr>
        <p:spPr>
          <a:xfrm>
            <a:off x="5212080" y="3145536"/>
            <a:ext cx="3657600" cy="502920"/>
          </a:xfrm>
          <a:prstGeom prst="diamond">
            <a:avLst/>
          </a:prstGeom>
          <a:solidFill>
            <a:srgbClr val="0A121C"/>
          </a:solidFill>
          <a:ln w="12700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000" b="1">
                <a:solidFill>
                  <a:srgbClr val="00D9E8"/>
                </a:solidFill>
                <a:latin typeface="Inter"/>
              </a:rPr>
              <a:t>Is the command understandable?</a:t>
            </a:r>
          </a:p>
          <a:p>
            <a:pPr algn="ctr"/>
            <a:r>
              <a:rPr sz="800">
                <a:solidFill>
                  <a:srgbClr val="6A7A8E"/>
                </a:solidFill>
                <a:latin typeface="JetBrains Mono"/>
              </a:rPr>
              <a:t>If NO → ask for clarification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3758184"/>
            <a:ext cx="3657600" cy="411480"/>
          </a:xfrm>
          <a:prstGeom prst="rect">
            <a:avLst/>
          </a:prstGeom>
          <a:solidFill>
            <a:srgbClr val="0A121C"/>
          </a:solidFill>
          <a:ln w="9525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2F6FB"/>
                </a:solidFill>
                <a:latin typeface="Space Grotesk"/>
              </a:rPr>
              <a:t>Brain Agent</a:t>
            </a:r>
          </a:p>
          <a:p>
            <a:pPr algn="ctr"/>
            <a:r>
              <a:rPr sz="850">
                <a:solidFill>
                  <a:srgbClr val="6A7A8E"/>
                </a:solidFill>
                <a:latin typeface="JetBrains Mono"/>
              </a:rPr>
              <a:t>Interpret intent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4279392"/>
            <a:ext cx="3657600" cy="411480"/>
          </a:xfrm>
          <a:prstGeom prst="rect">
            <a:avLst/>
          </a:prstGeom>
          <a:solidFill>
            <a:srgbClr val="0A121C"/>
          </a:solidFill>
          <a:ln w="9525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2F6FB"/>
                </a:solidFill>
                <a:latin typeface="Space Grotesk"/>
              </a:rPr>
              <a:t>Manager Agent</a:t>
            </a:r>
          </a:p>
          <a:p>
            <a:pPr algn="ctr"/>
            <a:r>
              <a:rPr sz="850">
                <a:solidFill>
                  <a:srgbClr val="6A7A8E"/>
                </a:solidFill>
                <a:latin typeface="JetBrains Mono"/>
              </a:rPr>
              <a:t>Decompose 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4800600"/>
            <a:ext cx="3657600" cy="411480"/>
          </a:xfrm>
          <a:prstGeom prst="rect">
            <a:avLst/>
          </a:prstGeom>
          <a:solidFill>
            <a:srgbClr val="0A121C"/>
          </a:solidFill>
          <a:ln w="9525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2F6FB"/>
                </a:solidFill>
                <a:latin typeface="Space Grotesk"/>
              </a:rPr>
              <a:t>Select Specialized Agent</a:t>
            </a:r>
          </a:p>
          <a:p>
            <a:pPr algn="ctr"/>
            <a:r>
              <a:rPr sz="850">
                <a:solidFill>
                  <a:srgbClr val="6A7A8E"/>
                </a:solidFill>
                <a:latin typeface="JetBrains Mono"/>
              </a:rPr>
              <a:t>Browser / File-OS / Research / Comm / Security</a:t>
            </a:r>
          </a:p>
        </p:txBody>
      </p:sp>
      <p:sp>
        <p:nvSpPr>
          <p:cNvPr id="12" name="Diamond 11"/>
          <p:cNvSpPr/>
          <p:nvPr/>
        </p:nvSpPr>
        <p:spPr>
          <a:xfrm>
            <a:off x="5212080" y="5413248"/>
            <a:ext cx="3657600" cy="502920"/>
          </a:xfrm>
          <a:prstGeom prst="diamond">
            <a:avLst/>
          </a:prstGeom>
          <a:solidFill>
            <a:srgbClr val="0A121C"/>
          </a:solidFill>
          <a:ln w="127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000" b="1">
                <a:solidFill>
                  <a:srgbClr val="FFB347"/>
                </a:solidFill>
                <a:latin typeface="Inter"/>
              </a:rPr>
              <a:t>Is the requested action safe?</a:t>
            </a:r>
          </a:p>
          <a:p>
            <a:pPr algn="ctr"/>
            <a:r>
              <a:rPr sz="800">
                <a:solidFill>
                  <a:srgbClr val="6A7A8E"/>
                </a:solidFill>
                <a:latin typeface="JetBrains Mono"/>
              </a:rPr>
              <a:t>If HIGH RISK → biometric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6025896"/>
            <a:ext cx="3657600" cy="411480"/>
          </a:xfrm>
          <a:prstGeom prst="rect">
            <a:avLst/>
          </a:prstGeom>
          <a:solidFill>
            <a:srgbClr val="0A121C"/>
          </a:solidFill>
          <a:ln w="9525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2F6FB"/>
                </a:solidFill>
                <a:latin typeface="Space Grotesk"/>
              </a:rPr>
              <a:t>Execute Action</a:t>
            </a:r>
          </a:p>
          <a:p>
            <a:pPr algn="ctr"/>
            <a:r>
              <a:rPr sz="850">
                <a:solidFill>
                  <a:srgbClr val="6A7A8E"/>
                </a:solidFill>
                <a:latin typeface="JetBrains Mono"/>
              </a:rPr>
              <a:t>Accessibility layer</a:t>
            </a:r>
          </a:p>
        </p:txBody>
      </p:sp>
      <p:sp>
        <p:nvSpPr>
          <p:cNvPr id="14" name="Diamond 13"/>
          <p:cNvSpPr/>
          <p:nvPr/>
        </p:nvSpPr>
        <p:spPr>
          <a:xfrm>
            <a:off x="5212080" y="6638544"/>
            <a:ext cx="3657600" cy="502920"/>
          </a:xfrm>
          <a:prstGeom prst="diamond">
            <a:avLst/>
          </a:prstGeom>
          <a:solidFill>
            <a:srgbClr val="0A121C"/>
          </a:solidFill>
          <a:ln w="12700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000" b="1">
                <a:solidFill>
                  <a:srgbClr val="00D9E8"/>
                </a:solidFill>
                <a:latin typeface="Inter"/>
              </a:rPr>
              <a:t>Can target UI element be identified?</a:t>
            </a:r>
          </a:p>
          <a:p>
            <a:pPr algn="ctr"/>
            <a:r>
              <a:rPr sz="800">
                <a:solidFill>
                  <a:srgbClr val="6A7A8E"/>
                </a:solidFill>
                <a:latin typeface="JetBrains Mono"/>
              </a:rPr>
              <a:t>YES → direct · NO → vision fallback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7251192"/>
            <a:ext cx="3657600" cy="411480"/>
          </a:xfrm>
          <a:prstGeom prst="rect">
            <a:avLst/>
          </a:prstGeom>
          <a:solidFill>
            <a:srgbClr val="0A121C"/>
          </a:solidFill>
          <a:ln w="9525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2F6FB"/>
                </a:solidFill>
                <a:latin typeface="Space Grotesk"/>
              </a:rPr>
              <a:t>Verify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7772400"/>
            <a:ext cx="3657600" cy="411480"/>
          </a:xfrm>
          <a:prstGeom prst="rect">
            <a:avLst/>
          </a:prstGeom>
          <a:solidFill>
            <a:srgbClr val="0A121C"/>
          </a:solidFill>
          <a:ln w="9525">
            <a:solidFill>
              <a:srgbClr val="0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2F6FB"/>
                </a:solidFill>
                <a:latin typeface="Space Grotesk"/>
              </a:rPr>
              <a:t>Update Memory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8293608"/>
            <a:ext cx="3657600" cy="411480"/>
          </a:xfrm>
          <a:prstGeom prst="rect">
            <a:avLst/>
          </a:prstGeom>
          <a:solidFill>
            <a:srgbClr val="0A121C"/>
          </a:solidFill>
          <a:ln w="9525">
            <a:solidFill>
              <a:srgbClr val="4CD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2F6FB"/>
                </a:solidFill>
                <a:latin typeface="Space Grotesk"/>
              </a:rPr>
              <a:t>Return Response</a:t>
            </a:r>
          </a:p>
          <a:p>
            <a:pPr algn="ctr"/>
            <a:r>
              <a:rPr sz="850">
                <a:solidFill>
                  <a:srgbClr val="6A7A8E"/>
                </a:solidFill>
                <a:latin typeface="JetBrains Mono"/>
              </a:rPr>
              <a:t>TASK COMPLETED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.0" y="2427732"/>
            <a:ext cx="0.0" cy="9601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40880.0" y="2948940"/>
            <a:ext cx="0.0" cy="18745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0880.0" y="3653028"/>
            <a:ext cx="0.0" cy="9601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40880.0" y="4174236"/>
            <a:ext cx="0.0" cy="9601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40880.0" y="4695444"/>
            <a:ext cx="0.0" cy="9601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40880.0" y="5216652"/>
            <a:ext cx="0.0" cy="18745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0.0" y="5920740"/>
            <a:ext cx="0.0" cy="9601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40880.0" y="6441948"/>
            <a:ext cx="0.0" cy="18745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40880.0" y="7146036"/>
            <a:ext cx="0.0" cy="9601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40880.0" y="7667244"/>
            <a:ext cx="0.0" cy="9601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40880.0" y="8188452"/>
            <a:ext cx="0.0" cy="96012"/>
          </a:xfrm>
          <a:prstGeom prst="line">
            <a:avLst/>
          </a:prstGeom>
          <a:ln w="15875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509760" y="2011680"/>
            <a:ext cx="2286000" cy="21945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1762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468880"/>
            <a:ext cx="1920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6C2D2"/>
                </a:solidFill>
                <a:latin typeface="Inter"/>
              </a:rPr>
              <a:t>□  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F6FB"/>
                </a:solidFill>
                <a:latin typeface="Inter"/>
              </a:rPr>
              <a:t>STAGE
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6C2D2"/>
                </a:solidFill>
                <a:latin typeface="Inter"/>
              </a:rPr>
              <a:t>◇  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F6FB"/>
                </a:solidFill>
                <a:latin typeface="Inter"/>
              </a:rPr>
              <a:t>DECISION
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B347"/>
                </a:solidFill>
                <a:latin typeface="Inter"/>
              </a:rPr>
              <a:t>AMBER
</a:t>
            </a:r>
          </a:p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B6C2D2"/>
                </a:solidFill>
                <a:latin typeface="Inter"/>
              </a:rPr>
              <a:t>physical / security gate
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CD99F"/>
                </a:solidFill>
                <a:latin typeface="Inter"/>
              </a:rPr>
              <a:t>GREEN
</a:t>
            </a:r>
          </a:p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B6C2D2"/>
                </a:solidFill>
                <a:latin typeface="Inter"/>
              </a:rPr>
              <a:t>task completion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011680"/>
            <a:ext cx="4389120" cy="219456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21762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WHAT THIS SLIDE DOES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2514600"/>
            <a:ext cx="3931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D2"/>
                </a:solidFill>
                <a:latin typeface="Inter"/>
              </a:rPr>
              <a:t>A.U.R.A. treats every command as a state machine.
Plain stages (cyan) move the task forward.
Diamond decisions branch the task. Two of them — comprehension and risk — can pause or abort.
The amber diamond is the only point where A.U.R.A. asks the user for a physical, not digital, decision.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F2F6FB"/>
                </a:solidFill>
                <a:latin typeface="Inter"/>
              </a:rPr>
              <a:t>If the flowchart cannot reach the green node, the system does not say TASK COMPLETED.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12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Layered System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C2D2"/>
                </a:solidFill>
                <a:latin typeface="Inter"/>
              </a:rPr>
              <a:t>Five layers, top to bottom. The aesthetic matches the device render.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698480" y="2011680"/>
            <a:ext cx="0" cy="4023360"/>
          </a:xfrm>
          <a:prstGeom prst="line">
            <a:avLst/>
          </a:prstGeom>
          <a:ln w="12700">
            <a:solidFill>
              <a:srgbClr val="0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4984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0D9E8"/>
                </a:solidFill>
                <a:latin typeface="JetBrains Mono"/>
              </a:rPr>
              <a:t>REQUEST 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126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0D9E8"/>
                </a:solidFill>
                <a:latin typeface="JetBrains Mono"/>
              </a:rPr>
              <a:t>STATE  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0058400" cy="758952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109728" cy="7589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JetBrains Mono"/>
              </a:rPr>
              <a:t>USER INTERACTION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50008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Desktop Interface  ·  Natural-language commands, task status, execution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96896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IoT Companion       ·  Raspberry Pi — wake-word mic, fingerprint sensor, projector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33888" y="2345436.0"/>
            <a:ext cx="146304" cy="0.0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2816352"/>
            <a:ext cx="10058400" cy="758952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16352"/>
            <a:ext cx="109728" cy="7589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3522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JetBrains Mono"/>
              </a:rPr>
              <a:t>ORCHESTRATION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Brain        ·  Intent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47288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Manager      ·  Planning + routing + shared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Sub-Agents   ·  Browser · File/OS · Communication · Research · Security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33888" y="3195828.0"/>
            <a:ext cx="146304" cy="0.0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7200" y="3666744"/>
            <a:ext cx="10058400" cy="758952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66744"/>
            <a:ext cx="109728" cy="7589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856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JetBrains Mono"/>
              </a:rPr>
              <a:t>INTELLIGENCE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50792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Lightweight  ·  BitNet b1.58 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Complex      ·  Quantized 7–8B model · llama.cpp-based 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44568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Vision       ·  Local vision model for UI fallback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33888" y="4046220.0"/>
            <a:ext cx="146304" cy="0.0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57200" y="4517136"/>
            <a:ext cx="10058400" cy="758952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517136"/>
            <a:ext cx="109728" cy="7589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360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E8"/>
                </a:solidFill>
                <a:latin typeface="JetBrains Mono"/>
              </a:rPr>
              <a:t>EXECUTION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01184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Accessibility APIs            ·  Direct UI targeting and application interaction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48072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Restricted Execution Env.     ·  Controlled permissions · sandboxed operations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33888" y="4896612.0"/>
            <a:ext cx="146304" cy="0.0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57200" y="5367528"/>
            <a:ext cx="10058400" cy="758952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67528"/>
            <a:ext cx="109728" cy="758952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B347"/>
                </a:solidFill>
                <a:latin typeface="JetBrains Mono"/>
              </a:rPr>
              <a:t>DATA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751576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Memory       ·  ChromaDB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98464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State        ·  SQLite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245352"/>
            <a:ext cx="9509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Protection   ·  AES-256 encrypted local storage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533888" y="5747004.0"/>
            <a:ext cx="146304" cy="0.0"/>
          </a:xfrm>
          <a:prstGeom prst="line">
            <a:avLst/>
          </a:prstGeom>
          <a:ln w="12700">
            <a:solidFill>
              <a:srgbClr val="00D9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B6C2D2"/>
                </a:solidFill>
                <a:latin typeface="Inter"/>
              </a:rPr>
              <a:t>User input enters at the top. State (memory, execution logs) persists at the bottom in encrypted storage.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13  ·  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Security by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C2D2"/>
                </a:solidFill>
                <a:latin typeface="Inter"/>
              </a:rPr>
              <a:t>Security is integrated into the architecture, not bolted on at the 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712463" cy="182880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712463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D9E8"/>
                </a:solidFill>
                <a:latin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LOCAL-FIRST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2552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AI inference and user context stay on the local machine.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5" y="2011680"/>
            <a:ext cx="3712463" cy="182880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5" y="2011680"/>
            <a:ext cx="3712463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5" y="224028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D9E8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51460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ZERO-TRUST INPUT HANDLING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62855" y="2880360"/>
            <a:ext cx="3163823" cy="164592"/>
          </a:xfrm>
          <a:prstGeom prst="rect">
            <a:avLst/>
          </a:prstGeom>
          <a:solidFill>
            <a:srgbClr val="111B2A"/>
          </a:solidFill>
          <a:ln w="508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884932"/>
            <a:ext cx="316382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2F6FB"/>
                </a:solidFill>
                <a:latin typeface="JetBrains Mono"/>
              </a:rPr>
              <a:t>Web content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2855" y="3072384"/>
            <a:ext cx="3163823" cy="164592"/>
          </a:xfrm>
          <a:prstGeom prst="rect">
            <a:avLst/>
          </a:prstGeom>
          <a:solidFill>
            <a:srgbClr val="111B2A"/>
          </a:solidFill>
          <a:ln w="508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3076956"/>
            <a:ext cx="316382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2F6FB"/>
                </a:solidFill>
                <a:latin typeface="JetBrains Mono"/>
              </a:rPr>
              <a:t>Sanitize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2855" y="3264408"/>
            <a:ext cx="3163823" cy="164592"/>
          </a:xfrm>
          <a:prstGeom prst="rect">
            <a:avLst/>
          </a:prstGeom>
          <a:solidFill>
            <a:srgbClr val="111B2A"/>
          </a:solidFill>
          <a:ln w="508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5" y="3268980"/>
            <a:ext cx="316382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2F6FB"/>
                </a:solidFill>
                <a:latin typeface="JetBrains Mono"/>
              </a:rPr>
              <a:t>Representation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2855" y="3456432"/>
            <a:ext cx="3163823" cy="164592"/>
          </a:xfrm>
          <a:prstGeom prst="rect">
            <a:avLst/>
          </a:prstGeom>
          <a:solidFill>
            <a:srgbClr val="111B2A"/>
          </a:solidFill>
          <a:ln w="508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2855" y="3461004"/>
            <a:ext cx="316382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2F6FB"/>
                </a:solidFill>
                <a:latin typeface="JetBrains Mono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5" y="3639312"/>
            <a:ext cx="32552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B6C2D2"/>
                </a:solidFill>
                <a:latin typeface="Inter"/>
              </a:rPr>
              <a:t>Indirect prompt-injection surface is reduced.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0" y="2011680"/>
            <a:ext cx="3712463" cy="182880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9870" y="2011680"/>
            <a:ext cx="3712463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0" y="224028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D9E8"/>
                </a:solidFill>
                <a:latin typeface="JetBrains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0" y="251460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RESTRICTED 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0" y="2880360"/>
            <a:ext cx="32552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Agents receive only the permissions required for the current task.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7640"/>
            <a:ext cx="3712463" cy="182880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77640"/>
            <a:ext cx="3712463" cy="73152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0624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B347"/>
                </a:solidFill>
                <a:latin typeface="JetBrains Mono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8056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HUMAN-IN-THE-LOOP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846320"/>
            <a:ext cx="3163823" cy="137160"/>
          </a:xfrm>
          <a:prstGeom prst="rect">
            <a:avLst/>
          </a:prstGeom>
          <a:solidFill>
            <a:srgbClr val="111B2A"/>
          </a:solidFill>
          <a:ln w="508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50892"/>
            <a:ext cx="316382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2F6FB"/>
                </a:solidFill>
                <a:latin typeface="JetBrains Mono"/>
              </a:rPr>
              <a:t>Risk Assess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01767"/>
            <a:ext cx="3163823" cy="137160"/>
          </a:xfrm>
          <a:prstGeom prst="rect">
            <a:avLst/>
          </a:prstGeom>
          <a:solidFill>
            <a:srgbClr val="FFB347"/>
          </a:solidFill>
          <a:ln w="508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006339"/>
            <a:ext cx="316382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05080D"/>
                </a:solidFill>
                <a:latin typeface="JetBrains Mono"/>
              </a:rPr>
              <a:t>Pause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57216"/>
            <a:ext cx="3163823" cy="137160"/>
          </a:xfrm>
          <a:prstGeom prst="rect">
            <a:avLst/>
          </a:prstGeom>
          <a:solidFill>
            <a:srgbClr val="FFB347"/>
          </a:solidFill>
          <a:ln w="508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161788"/>
            <a:ext cx="316382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05080D"/>
                </a:solidFill>
                <a:latin typeface="JetBrains Mono"/>
              </a:rPr>
              <a:t>Verify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312664"/>
            <a:ext cx="3163823" cy="137160"/>
          </a:xfrm>
          <a:prstGeom prst="rect">
            <a:avLst/>
          </a:prstGeom>
          <a:solidFill>
            <a:srgbClr val="111B2A"/>
          </a:solidFill>
          <a:ln w="508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317236"/>
            <a:ext cx="316382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2F6FB"/>
                </a:solidFill>
                <a:latin typeface="JetBrains Mono"/>
              </a:rPr>
              <a:t>Approve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468112"/>
            <a:ext cx="3163823" cy="137160"/>
          </a:xfrm>
          <a:prstGeom prst="rect">
            <a:avLst/>
          </a:prstGeom>
          <a:solidFill>
            <a:srgbClr val="111B2A"/>
          </a:solidFill>
          <a:ln w="5080">
            <a:solidFill>
              <a:srgbClr val="00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472684"/>
            <a:ext cx="316382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2F6FB"/>
                </a:solidFill>
                <a:latin typeface="JetBrains Mono"/>
              </a:rPr>
              <a:t>Execute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605272"/>
            <a:ext cx="32552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B6C2D2"/>
                </a:solidFill>
                <a:latin typeface="Inter"/>
              </a:rPr>
              <a:t>Amber stages = physical pause.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88535" y="3977640"/>
            <a:ext cx="3712463" cy="182880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88535" y="3977640"/>
            <a:ext cx="3712463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62855" y="420624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D9E8"/>
                </a:solidFill>
                <a:latin typeface="JetBrains Mono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2855" y="448056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ENCRYPTED LOCAL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62855" y="4846320"/>
            <a:ext cx="32552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AES-256 protects sensitive state and memory stores.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19870" y="3977640"/>
            <a:ext cx="3712463" cy="182880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19870" y="3977640"/>
            <a:ext cx="3712463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94190" y="420624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D9E8"/>
                </a:solidFill>
                <a:latin typeface="JetBrains Mono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0" y="4480560"/>
            <a:ext cx="3255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6FB"/>
                </a:solidFill>
                <a:latin typeface="Space Grotesk"/>
              </a:rPr>
              <a:t>AUDITABLE EXECUTION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0" y="4846320"/>
            <a:ext cx="32552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C2D2"/>
                </a:solidFill>
                <a:latin typeface="Inter"/>
              </a:rPr>
              <a:t>Important decisions and actions are logged for user review.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B6C2D2"/>
                </a:solidFill>
                <a:latin typeface="Inter"/>
              </a:rPr>
              <a:t>Honest caveat: this is architecture-level assurance, not formal verification. Future work includes sandboxing audits and prompt-injection testing.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7A8E"/>
                </a:solidFill>
                <a:latin typeface="JetBrains Mono"/>
              </a:rPr>
              <a:t>A.U.R.A.  ·  FYP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7A8E"/>
                </a:solidFill>
                <a:latin typeface="JetBrains Mon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14  ·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F6FB"/>
                </a:solidFill>
                <a:latin typeface="Space Grotesk"/>
              </a:rPr>
              <a:t>A.U.R.A.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1B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630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D9E8"/>
                </a:solidFill>
                <a:latin typeface="Space Grotesk"/>
              </a:rPr>
              <a:t>Air-gapped · Unified · Responsive ·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2F6FB"/>
                </a:solidFill>
                <a:latin typeface="Inter"/>
              </a:rPr>
              <a:t>A local AI system designed to turn natural-language commands into controlled computer 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1920240" cy="155448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92024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LOCAL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7296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Reasoning operates locally
without cloud AI APIs.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606040"/>
            <a:ext cx="1920240" cy="155448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2606040"/>
            <a:ext cx="192024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8072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SMART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17296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Multi-agent architecture
decomposes and routes complex tasks.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606040"/>
            <a:ext cx="1920240" cy="155448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606040"/>
            <a:ext cx="192024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8072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RESILIENT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17296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Accessibility primary,
vision as fallback.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606040"/>
            <a:ext cx="1920240" cy="155448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606040"/>
            <a:ext cx="1920240" cy="73152"/>
          </a:xfrm>
          <a:prstGeom prst="rect">
            <a:avLst/>
          </a:prstGeom>
          <a:solidFill>
            <a:srgbClr val="0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8072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D9E8"/>
                </a:solidFill>
                <a:latin typeface="JetBrains Mono"/>
              </a:rPr>
              <a:t>PRIVACY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7296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6FB"/>
                </a:solidFill>
                <a:latin typeface="Inter"/>
              </a:rPr>
              <a:t>Sanitization · restricted permissions
biometric approval · encrypted storage.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2F6FB"/>
                </a:solidFill>
                <a:latin typeface="Space Grotesk"/>
              </a:rPr>
              <a:t>AI that can act on your computer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0D9E8"/>
                </a:solidFill>
                <a:latin typeface="Space Grotesk"/>
              </a:rPr>
              <a:t>— while the computer remains under your control.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7772400" cy="777240"/>
          </a:xfrm>
          <a:prstGeom prst="rect">
            <a:avLst/>
          </a:prstGeom>
          <a:solidFill>
            <a:srgbClr val="0A121C"/>
          </a:solidFill>
          <a:ln w="9525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5099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2F6FB"/>
                </a:solidFill>
                <a:latin typeface="Space Grotesk"/>
              </a:rPr>
              <a:t>THANK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B6C2D2"/>
                </a:solidFill>
                <a:latin typeface="JetBrains Mono"/>
              </a:rPr>
              <a:t>Muhammad Hunzala Hasan — 25435   ·   Muhammad Taha Jabbar — 25421   ·   Hafsa Ayub — 25588</a:t>
            </a:r>
          </a:p>
        </p:txBody>
      </p:sp>
      <p:pic>
        <p:nvPicPr>
          <p:cNvPr id="28" name="Picture 27" descr="image_a_device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463040"/>
            <a:ext cx="3520440" cy="234810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412480" y="5989320"/>
            <a:ext cx="3520440" cy="365760"/>
          </a:xfrm>
          <a:prstGeom prst="rect">
            <a:avLst/>
          </a:prstGeom>
          <a:solidFill>
            <a:srgbClr val="0A121C"/>
          </a:solidFill>
          <a:ln w="6350">
            <a:solidFill>
              <a:srgbClr val="1B2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605332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0D9E8"/>
                </a:solidFill>
                <a:latin typeface="JetBrains Mono"/>
              </a:rPr>
              <a:t>ADVANCED  ·  UNIFIED  ·  RESPONSIVE  · 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